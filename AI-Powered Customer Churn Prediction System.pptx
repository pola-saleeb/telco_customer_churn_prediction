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Model Accuracy Comparison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C2A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Decision
Tree</c:v>
                  </c:pt>
                  <c:pt idx="3">
                    <c:v>ANN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80.38</c:v>
                </c:pt>
                <c:pt idx="1">
                  <c:v>79</c:v>
                </c:pt>
                <c:pt idx="2">
                  <c:v>78</c:v>
                </c:pt>
                <c:pt idx="3">
                  <c:v>78.5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2"/>
          <c:min val="75"/>
        </c:scaling>
        <c:delete val="0"/>
        <c:axPos val="l"/>
        <c:majorGridlines>
          <c:spPr>
            <a:ln w="12700" cap="flat">
              <a:solidFill>
                <a:srgbClr val="E5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1E276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840480" cy="3840480"/>
          </a:xfrm>
          <a:prstGeom prst="ellipse">
            <a:avLst/>
          </a:prstGeom>
          <a:solidFill>
            <a:srgbClr val="00C2A8">
              <a:alpha val="10000"/>
            </a:srgbClr>
          </a:solidFill>
          <a:ln/>
        </p:spPr>
      </p:sp>
      <p:pic>
        <p:nvPicPr>
          <p:cNvPr id="4" name="Image 0" descr="nti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700784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502920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1965960"/>
            <a:ext cx="105430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Customer Churn</a:t>
            </a:r>
            <a:endParaRPr lang="en-US" sz="4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280160" y="3639312"/>
            <a:ext cx="9628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Churn and Generating Intelligent Retention Recommendations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Learning, NLP, and Large Language Models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03036" y="4315968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1737360" y="4617720"/>
            <a:ext cx="8714232" cy="1417320"/>
          </a:xfrm>
          <a:prstGeom prst="roundRect">
            <a:avLst>
              <a:gd name="adj" fmla="val 774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965960" y="4754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965960" y="5056632"/>
            <a:ext cx="8257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Adly      •      Poula Saleb      •      Kholod Jamal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965960" y="5632704"/>
            <a:ext cx="8257032" cy="0"/>
          </a:xfrm>
          <a:prstGeom prst="line">
            <a:avLst/>
          </a:prstGeom>
          <a:noFill/>
          <a:ln w="12700">
            <a:solidFill>
              <a:srgbClr val="D8DE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65960" y="57241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 OF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965960" y="5971032"/>
            <a:ext cx="8257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Dai Elsayed      •      Eng. Fatema Gamal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Pipeline</a:t>
            </a:r>
            <a:endParaRPr lang="en-US" sz="1300" dirty="0"/>
          </a:p>
        </p:txBody>
      </p:sp>
      <p:pic>
        <p:nvPicPr>
          <p:cNvPr id="4" name="Image 0" descr="nti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320040"/>
            <a:ext cx="1133856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1732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417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984248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5216" y="2121408"/>
            <a:ext cx="182880" cy="1828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198424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2651760"/>
            <a:ext cx="182880" cy="1828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5146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304495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5216" y="3182112"/>
            <a:ext cx="182880" cy="1828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04495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319272" y="141732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3456432" y="1417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319272" y="1984248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47288" y="2121408"/>
            <a:ext cx="182880" cy="1828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0" name="Text 17"/>
          <p:cNvSpPr/>
          <p:nvPr/>
        </p:nvSpPr>
        <p:spPr>
          <a:xfrm>
            <a:off x="3730752" y="198424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319272" y="2514600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47288" y="2651760"/>
            <a:ext cx="182880" cy="1828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3" name="Text 20"/>
          <p:cNvSpPr/>
          <p:nvPr/>
        </p:nvSpPr>
        <p:spPr>
          <a:xfrm>
            <a:off x="3730752" y="25146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3319272" y="304495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447288" y="3182112"/>
            <a:ext cx="182880" cy="1828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3"/>
          <p:cNvSpPr/>
          <p:nvPr/>
        </p:nvSpPr>
        <p:spPr>
          <a:xfrm>
            <a:off x="3730752" y="304495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3319272" y="3575304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47288" y="3712464"/>
            <a:ext cx="182880" cy="1828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9" name="Text 26"/>
          <p:cNvSpPr/>
          <p:nvPr/>
        </p:nvSpPr>
        <p:spPr>
          <a:xfrm>
            <a:off x="3730752" y="3575304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181344" y="141732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1" name="Text 28"/>
          <p:cNvSpPr/>
          <p:nvPr/>
        </p:nvSpPr>
        <p:spPr>
          <a:xfrm>
            <a:off x="6318504" y="1417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181344" y="1984248"/>
            <a:ext cx="260604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09360" y="2103120"/>
            <a:ext cx="182880" cy="1828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4" name="Text 31"/>
          <p:cNvSpPr/>
          <p:nvPr/>
        </p:nvSpPr>
        <p:spPr>
          <a:xfrm>
            <a:off x="6592824" y="1984248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181344" y="2468880"/>
            <a:ext cx="260604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09360" y="2587752"/>
            <a:ext cx="182880" cy="1828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7" name="Text 34"/>
          <p:cNvSpPr/>
          <p:nvPr/>
        </p:nvSpPr>
        <p:spPr>
          <a:xfrm>
            <a:off x="6592824" y="2468880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181344" y="2953512"/>
            <a:ext cx="260604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309360" y="3072384"/>
            <a:ext cx="182880" cy="1828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0" name="Text 37"/>
          <p:cNvSpPr/>
          <p:nvPr/>
        </p:nvSpPr>
        <p:spPr>
          <a:xfrm>
            <a:off x="6592824" y="2953512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Sentiment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181344" y="3438144"/>
            <a:ext cx="260604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309360" y="3557016"/>
            <a:ext cx="182880" cy="1828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3" name="Text 40"/>
          <p:cNvSpPr/>
          <p:nvPr/>
        </p:nvSpPr>
        <p:spPr>
          <a:xfrm>
            <a:off x="6592824" y="3438144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(DistilBERT)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181344" y="4014216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45" name="Text 42"/>
          <p:cNvSpPr/>
          <p:nvPr/>
        </p:nvSpPr>
        <p:spPr>
          <a:xfrm>
            <a:off x="6318504" y="401421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(Gemini)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6181344" y="4581144"/>
            <a:ext cx="260604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309360" y="4700016"/>
            <a:ext cx="182880" cy="1828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8" name="Text 45"/>
          <p:cNvSpPr/>
          <p:nvPr/>
        </p:nvSpPr>
        <p:spPr>
          <a:xfrm>
            <a:off x="6592824" y="4581144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Review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181344" y="5065776"/>
            <a:ext cx="260604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309360" y="5184648"/>
            <a:ext cx="182880" cy="1828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1" name="Text 48"/>
          <p:cNvSpPr/>
          <p:nvPr/>
        </p:nvSpPr>
        <p:spPr>
          <a:xfrm>
            <a:off x="6592824" y="5065776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Problems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6181344" y="5550408"/>
            <a:ext cx="260604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09360" y="5669280"/>
            <a:ext cx="182880" cy="1828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4" name="Text 51"/>
          <p:cNvSpPr/>
          <p:nvPr/>
        </p:nvSpPr>
        <p:spPr>
          <a:xfrm>
            <a:off x="6592824" y="5550408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Recommendations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9043416" y="141732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00C2A8"/>
          </a:solidFill>
          <a:ln/>
        </p:spPr>
      </p:sp>
      <p:sp>
        <p:nvSpPr>
          <p:cNvPr id="56" name="Text 53"/>
          <p:cNvSpPr/>
          <p:nvPr/>
        </p:nvSpPr>
        <p:spPr>
          <a:xfrm>
            <a:off x="9180576" y="1417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9043416" y="1984248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58" name="Text 55"/>
          <p:cNvSpPr/>
          <p:nvPr/>
        </p:nvSpPr>
        <p:spPr>
          <a:xfrm>
            <a:off x="9153144" y="1984248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9482328" y="198424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review</a:t>
            </a:r>
            <a:endParaRPr lang="en-US" sz="1080" dirty="0"/>
          </a:p>
        </p:txBody>
      </p:sp>
      <p:sp>
        <p:nvSpPr>
          <p:cNvPr id="60" name="Text 57"/>
          <p:cNvSpPr/>
          <p:nvPr/>
        </p:nvSpPr>
        <p:spPr>
          <a:xfrm>
            <a:off x="10209276" y="241401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9043416" y="2514600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62" name="Text 59"/>
          <p:cNvSpPr/>
          <p:nvPr/>
        </p:nvSpPr>
        <p:spPr>
          <a:xfrm>
            <a:off x="9153144" y="25146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9482328" y="25146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sentiment</a:t>
            </a:r>
            <a:endParaRPr lang="en-US" sz="1080" dirty="0"/>
          </a:p>
        </p:txBody>
      </p:sp>
      <p:sp>
        <p:nvSpPr>
          <p:cNvPr id="64" name="Text 61"/>
          <p:cNvSpPr/>
          <p:nvPr/>
        </p:nvSpPr>
        <p:spPr>
          <a:xfrm>
            <a:off x="10209276" y="294436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9043416" y="304495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66" name="Text 63"/>
          <p:cNvSpPr/>
          <p:nvPr/>
        </p:nvSpPr>
        <p:spPr>
          <a:xfrm>
            <a:off x="9153144" y="304495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7" name="Text 64"/>
          <p:cNvSpPr/>
          <p:nvPr/>
        </p:nvSpPr>
        <p:spPr>
          <a:xfrm>
            <a:off x="9482328" y="304495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with LLM</a:t>
            </a:r>
            <a:endParaRPr lang="en-US" sz="1080" dirty="0"/>
          </a:p>
        </p:txBody>
      </p:sp>
      <p:sp>
        <p:nvSpPr>
          <p:cNvPr id="68" name="Text 65"/>
          <p:cNvSpPr/>
          <p:nvPr/>
        </p:nvSpPr>
        <p:spPr>
          <a:xfrm>
            <a:off x="10209276" y="34747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9043416" y="3575304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70" name="Text 67"/>
          <p:cNvSpPr/>
          <p:nvPr/>
        </p:nvSpPr>
        <p:spPr>
          <a:xfrm>
            <a:off x="9153144" y="357530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1" name="Text 68"/>
          <p:cNvSpPr/>
          <p:nvPr/>
        </p:nvSpPr>
        <p:spPr>
          <a:xfrm>
            <a:off x="9482328" y="3575304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business report</a:t>
            </a:r>
            <a:endParaRPr lang="en-US" sz="1080" dirty="0"/>
          </a:p>
        </p:txBody>
      </p:sp>
      <p:sp>
        <p:nvSpPr>
          <p:cNvPr id="72" name="Text 6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Churn Prediction System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11457432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846320"/>
            <a:ext cx="3657600" cy="3657600"/>
          </a:xfrm>
          <a:prstGeom prst="ellipse">
            <a:avLst/>
          </a:prstGeom>
          <a:solidFill>
            <a:srgbClr val="1E2761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Technology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57784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customer will churn and provide intelligent, explainable recommendations to improve customer retention.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5577840" cy="2377440"/>
          </a:xfrm>
          <a:prstGeom prst="roundRect">
            <a:avLst>
              <a:gd name="adj" fmla="val 3846"/>
            </a:avLst>
          </a:prstGeom>
          <a:solidFill>
            <a:srgbClr val="F4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977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431596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31596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431596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431596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472744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72744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472744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472744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(ANN)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513892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13892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Toolkit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513892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513892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" y="555040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55040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1600200"/>
            <a:ext cx="5166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1600200"/>
            <a:ext cx="1645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8503920" y="1600200"/>
            <a:ext cx="2926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92240" y="3291840"/>
            <a:ext cx="5166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3291840"/>
            <a:ext cx="1645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8503920" y="3291840"/>
            <a:ext cx="2926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92240" y="4983480"/>
            <a:ext cx="5166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66560" y="4983480"/>
            <a:ext cx="1645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80.4%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8503920" y="4983480"/>
            <a:ext cx="2926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Churn Prediction 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57432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Preprocessing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records to model-ready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02996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Telco Customer Churn Dataset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505456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4505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Information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2825496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277063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Service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145536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30906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3465576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341071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3785616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37307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4105656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40507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4425696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0" name="Text 18"/>
          <p:cNvSpPr/>
          <p:nvPr/>
        </p:nvSpPr>
        <p:spPr>
          <a:xfrm>
            <a:off x="1115568" y="437083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" y="4764024"/>
            <a:ext cx="484632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91947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DATASET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528523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115568" y="523036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8680" y="560527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1115568" y="555040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99632" y="1508760"/>
            <a:ext cx="5440680" cy="2212848"/>
          </a:xfrm>
          <a:prstGeom prst="roundRect">
            <a:avLst>
              <a:gd name="adj" fmla="val 4132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519672" y="171907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PREPROCESSING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19672" y="2084832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2A356F"/>
          </a:solidFill>
          <a:ln/>
        </p:spPr>
      </p:sp>
      <p:sp>
        <p:nvSpPr>
          <p:cNvPr id="30" name="Text 28"/>
          <p:cNvSpPr/>
          <p:nvPr/>
        </p:nvSpPr>
        <p:spPr>
          <a:xfrm>
            <a:off x="6592824" y="2084832"/>
            <a:ext cx="14538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57032" y="2084832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2A356F"/>
          </a:solidFill>
          <a:ln/>
        </p:spPr>
      </p:sp>
      <p:sp>
        <p:nvSpPr>
          <p:cNvPr id="32" name="Text 30"/>
          <p:cNvSpPr/>
          <p:nvPr/>
        </p:nvSpPr>
        <p:spPr>
          <a:xfrm>
            <a:off x="8330184" y="2084832"/>
            <a:ext cx="14538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994392" y="2084832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2A356F"/>
          </a:solidFill>
          <a:ln/>
        </p:spPr>
      </p:sp>
      <p:sp>
        <p:nvSpPr>
          <p:cNvPr id="34" name="Text 32"/>
          <p:cNvSpPr/>
          <p:nvPr/>
        </p:nvSpPr>
        <p:spPr>
          <a:xfrm>
            <a:off x="10067544" y="2084832"/>
            <a:ext cx="14538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199632" y="3959352"/>
            <a:ext cx="5440680" cy="2212848"/>
          </a:xfrm>
          <a:prstGeom prst="roundRect">
            <a:avLst>
              <a:gd name="adj" fmla="val 4132"/>
            </a:avLst>
          </a:prstGeom>
          <a:solidFill>
            <a:srgbClr val="00C2A8"/>
          </a:solidFill>
          <a:ln/>
        </p:spPr>
      </p:sp>
      <p:sp>
        <p:nvSpPr>
          <p:cNvPr id="36" name="Text 34"/>
          <p:cNvSpPr/>
          <p:nvPr/>
        </p:nvSpPr>
        <p:spPr>
          <a:xfrm>
            <a:off x="6519672" y="416966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519672" y="4553712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519672" y="455371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171432" y="4553712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9171432" y="455371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punctuation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519672" y="5148072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519672" y="51480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stopwords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171432" y="5148072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9171432" y="51480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Churn Prediction System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57432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 tested, one clear winner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417320"/>
            <a:ext cx="4937760" cy="960120"/>
          </a:xfrm>
          <a:prstGeom prst="roundRect">
            <a:avLst>
              <a:gd name="adj" fmla="val 9524"/>
            </a:avLst>
          </a:prstGeom>
          <a:solidFill>
            <a:srgbClr val="00C2A8"/>
          </a:solidFill>
          <a:ln/>
        </p:spPr>
      </p:sp>
      <p:sp>
        <p:nvSpPr>
          <p:cNvPr id="6" name="Text 3"/>
          <p:cNvSpPr/>
          <p:nvPr/>
        </p:nvSpPr>
        <p:spPr>
          <a:xfrm>
            <a:off x="6995160" y="15179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SELECTED MODEL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995160" y="1783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720840" y="2606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LOGISTIC REGRESSION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20840" y="2944368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4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0" y="309067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7178040" y="29443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(80.38%)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720840" y="3566160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4F7FC"/>
          </a:solidFill>
          <a:ln/>
        </p:spPr>
      </p:sp>
      <p:sp>
        <p:nvSpPr>
          <p:cNvPr id="13" name="Shape 10"/>
          <p:cNvSpPr/>
          <p:nvPr/>
        </p:nvSpPr>
        <p:spPr>
          <a:xfrm>
            <a:off x="6858000" y="3712464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7178040" y="35661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ROC AUC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720840" y="4187952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4F7FC"/>
          </a:solidFill>
          <a:ln/>
        </p:spPr>
      </p:sp>
      <p:sp>
        <p:nvSpPr>
          <p:cNvPr id="16" name="Shape 13"/>
          <p:cNvSpPr/>
          <p:nvPr/>
        </p:nvSpPr>
        <p:spPr>
          <a:xfrm>
            <a:off x="6858000" y="4334256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7178040" y="41879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explain to stakeholders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720840" y="48920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Tested: Logistic Regression  •  Decision Tree  •  Random Forest  •  Artificial Neural Network (ANN)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Churn Prediction System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57432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&amp; BERT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 voice behind the numbers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02152" cy="470916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2953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PROCESSING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167128"/>
            <a:ext cx="2953512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16712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167128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2953512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8036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880360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593592"/>
            <a:ext cx="2953512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59359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593592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306824"/>
            <a:ext cx="2953512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30682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306824"/>
            <a:ext cx="24505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 Visualization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06824" y="1508760"/>
            <a:ext cx="3502152" cy="4709160"/>
          </a:xfrm>
          <a:prstGeom prst="roundRect">
            <a:avLst>
              <a:gd name="adj" fmla="val 2611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581144" y="1737360"/>
            <a:ext cx="2953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— VADER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81144" y="2084832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customer reviews into three categories: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81144" y="2560320"/>
            <a:ext cx="2953512" cy="502920"/>
          </a:xfrm>
          <a:prstGeom prst="roundRect">
            <a:avLst>
              <a:gd name="adj" fmla="val 49091"/>
            </a:avLst>
          </a:prstGeom>
          <a:solidFill>
            <a:srgbClr val="3FD9A8"/>
          </a:solidFill>
          <a:ln/>
        </p:spPr>
      </p:sp>
      <p:sp>
        <p:nvSpPr>
          <p:cNvPr id="22" name="Text 20"/>
          <p:cNvSpPr/>
          <p:nvPr/>
        </p:nvSpPr>
        <p:spPr>
          <a:xfrm>
            <a:off x="4581144" y="2560320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581144" y="3200400"/>
            <a:ext cx="2953512" cy="502920"/>
          </a:xfrm>
          <a:prstGeom prst="roundRect">
            <a:avLst>
              <a:gd name="adj" fmla="val 49091"/>
            </a:avLst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4581144" y="3200400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581144" y="3840480"/>
            <a:ext cx="2953512" cy="502920"/>
          </a:xfrm>
          <a:prstGeom prst="roundRect">
            <a:avLst>
              <a:gd name="adj" fmla="val 49091"/>
            </a:avLst>
          </a:prstGeom>
          <a:solidFill>
            <a:srgbClr val="FF8C7A"/>
          </a:solidFill>
          <a:ln/>
        </p:spPr>
      </p:sp>
      <p:sp>
        <p:nvSpPr>
          <p:cNvPr id="26" name="Text 24"/>
          <p:cNvSpPr/>
          <p:nvPr/>
        </p:nvSpPr>
        <p:spPr>
          <a:xfrm>
            <a:off x="4581144" y="3840480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581144" y="4526280"/>
            <a:ext cx="2953512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81144" y="4663440"/>
            <a:ext cx="2953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81144" y="4937760"/>
            <a:ext cx="2953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 were highly associated with customer churn.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65008" y="1508760"/>
            <a:ext cx="3502152" cy="470916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1737360"/>
            <a:ext cx="2953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39328" y="2130552"/>
            <a:ext cx="2953512" cy="502920"/>
          </a:xfrm>
          <a:prstGeom prst="roundRect">
            <a:avLst>
              <a:gd name="adj" fmla="val 14545"/>
            </a:avLst>
          </a:prstGeom>
          <a:solidFill>
            <a:srgbClr val="00C2A8"/>
          </a:solidFill>
          <a:ln/>
        </p:spPr>
      </p:sp>
      <p:sp>
        <p:nvSpPr>
          <p:cNvPr id="33" name="Text 31"/>
          <p:cNvSpPr/>
          <p:nvPr/>
        </p:nvSpPr>
        <p:spPr>
          <a:xfrm>
            <a:off x="8339328" y="2130552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DistilBERT model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39328" y="2880360"/>
            <a:ext cx="2953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339328" y="3200400"/>
            <a:ext cx="2953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feedback better than traditional sentiment analysis by considering the context of words.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39328" y="4663440"/>
            <a:ext cx="2953512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9328" y="4846320"/>
            <a:ext cx="2953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understanding vs. traditional keyword-based sentiment scoring.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Churn Prediction System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57432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Integration — Gemini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feedback to explainable business action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is integrated as an AI Assistant: the user enters any customer review, and Gemini automatically analyzes it end to end.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121408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Summary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88920" y="2011680"/>
            <a:ext cx="2121408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880360" y="201168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2011680"/>
            <a:ext cx="2121408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201168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69480" y="2011680"/>
            <a:ext cx="2121408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60920" y="201168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Problems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509760" y="2011680"/>
            <a:ext cx="2121408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201168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Business Action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6118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Review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77240" y="408736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input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3721608"/>
            <a:ext cx="310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379976" y="333756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00C2A8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36118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Analysis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608576" y="408736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engine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54696" y="3721608"/>
            <a:ext cx="310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8211312" y="333756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439912" y="36118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439912" y="408736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retention step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the system explainable and useful for decision makers.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Churn Prediction System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57432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Business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PREDICTION MODEL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0" y="1371600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80.38%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0" y="212140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INSIGHTS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118104"/>
            <a:ext cx="201168" cy="20116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718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sentiment increases churn probability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721608"/>
            <a:ext cx="201168" cy="20116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57530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 reveal hidden reasons behind churn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2793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BENEFITS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63600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5720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explains customer complaints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500176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9377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retention strategies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536752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3035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customer support teams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9632" y="1051560"/>
            <a:ext cx="5440680" cy="5074920"/>
          </a:xfrm>
          <a:prstGeom prst="roundRect">
            <a:avLst>
              <a:gd name="adj" fmla="val 1802"/>
            </a:avLst>
          </a:prstGeom>
          <a:solidFill>
            <a:srgbClr val="00C2A8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2801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1691640"/>
            <a:ext cx="4892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601968" y="1691640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995160" y="1691640"/>
            <a:ext cx="4251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customers in the first 6–12 months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92240" y="2423160"/>
            <a:ext cx="4892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601968" y="2423160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995160" y="2423160"/>
            <a:ext cx="4251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long-term contracts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92240" y="3154680"/>
            <a:ext cx="4892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601968" y="3154680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995160" y="3154680"/>
            <a:ext cx="4251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Fiber Optic service quality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92240" y="3886200"/>
            <a:ext cx="4892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601968" y="3886200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995160" y="3886200"/>
            <a:ext cx="4251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discounts for customers with high monthly charges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92240" y="4617720"/>
            <a:ext cx="4892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601968" y="4617720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995160" y="4617720"/>
            <a:ext cx="4251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automatic payment methods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92240" y="5349240"/>
            <a:ext cx="4892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601968" y="5349240"/>
            <a:ext cx="365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995160" y="5349240"/>
            <a:ext cx="4251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analyze customer feedback and recommend retention actions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Churn Prediction System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57432" y="6528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00C2A8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7448" y="4160520"/>
            <a:ext cx="274320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348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Adly   •   Poula Saleb   •   Kholod Jamal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Eng. Dai Elsayed  &amp;  Eng. Fatema Gamal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2026-07-15T12:35:42Z</dcterms:created>
  <dcterms:modified xsi:type="dcterms:W3CDTF">2026-07-15T12:35:42Z</dcterms:modified>
</cp:coreProperties>
</file>